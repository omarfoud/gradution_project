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86200" cy="685800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822960"/>
            <a:ext cx="566928" cy="566928"/>
          </a:xfrm>
          <a:prstGeom prst="ellipse">
            <a:avLst/>
          </a:prstGeom>
          <a:solidFill>
            <a:srgbClr val="23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04671" y="1874519"/>
            <a:ext cx="566928" cy="566928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9264" y="2926080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3856" y="3977639"/>
            <a:ext cx="566928" cy="56692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349240"/>
            <a:ext cx="2743200" cy="5486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Segoe UI"/>
              </a:rPr>
              <a:t>Graduation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760720"/>
            <a:ext cx="283464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Segoe UI"/>
              </a:rPr>
              <a:t>AI Backend 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051560"/>
            <a:ext cx="6858000" cy="7315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3800" b="1">
                <a:solidFill>
                  <a:srgbClr val="14213D"/>
                </a:solidFill>
                <a:latin typeface="Segoe UI"/>
              </a:rPr>
              <a:t>Jobify AI Backend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70832" y="1847088"/>
            <a:ext cx="667512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100" b="0">
                <a:solidFill>
                  <a:srgbClr val="334155"/>
                </a:solidFill>
                <a:latin typeface="Arial"/>
              </a:rPr>
              <a:t>Hybrid Job Search, CV Matching, Company AI Assistant, and Docker Deployment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788920"/>
            <a:ext cx="6949440" cy="15544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800" b="0">
                <a:solidFill>
                  <a:srgbClr val="0F172A"/>
                </a:solidFill>
                <a:latin typeface="Arial"/>
              </a:rPr>
              <a:t>بحث ذكي يجمع بين FAISS embeddings وقاعدة البيانات المتصلة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800" b="0">
                <a:solidFill>
                  <a:srgbClr val="0F172A"/>
                </a:solidFill>
                <a:latin typeface="Arial"/>
              </a:rPr>
              <a:t>تحليل CV وإرجاع MatchScore للوظائف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800" b="0">
                <a:solidFill>
                  <a:srgbClr val="0F172A"/>
                </a:solidFill>
                <a:latin typeface="Arial"/>
              </a:rPr>
              <a:t>APIs جاهزة للـ frontend وتم اختبارها ببيانات حقيقية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5806440"/>
            <a:ext cx="5852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Prepared for project discussion with the doctor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419088"/>
            <a:ext cx="91440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Segoe UI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Segoe UI"/>
              </a:rPr>
              <a:t>1. 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50392"/>
            <a:ext cx="960120" cy="54864"/>
          </a:xfrm>
          <a:prstGeom prst="rect">
            <a:avLst/>
          </a:prstGeom>
          <a:solidFill>
            <a:srgbClr val="23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033272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المشكلة التي يحلها المشروع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5212080" cy="35661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800" b="0">
                <a:solidFill>
                  <a:srgbClr val="0F172A"/>
                </a:solidFill>
                <a:latin typeface="Arial"/>
              </a:rPr>
              <a:t>الـ applicant يحتاج يبحث عن وظائف مناسبة حتى لو النص المكتوب مختلف عن نفس المعنى.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800" b="0">
                <a:solidFill>
                  <a:srgbClr val="0F172A"/>
                </a:solidFill>
                <a:latin typeface="Arial"/>
              </a:rPr>
              <a:t>الشركة تحتاج تقييم سريع لمدى مناسبة CV مع متطلبات الوظيفة.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800" b="0">
                <a:solidFill>
                  <a:srgbClr val="0F172A"/>
                </a:solidFill>
                <a:latin typeface="Arial"/>
              </a:rPr>
              <a:t>النظام لازم يشتغل في deployment بدون الاعتماد على ملفات محلية ناقصة.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800" b="0">
                <a:solidFill>
                  <a:srgbClr val="0F172A"/>
                </a:solidFill>
                <a:latin typeface="Arial"/>
              </a:rPr>
              <a:t>الـ frontend يحتاج APIs واضحة ومستقرة للبحث، الشات، والتحليل.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508760"/>
            <a:ext cx="448056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1508760"/>
            <a:ext cx="73152" cy="1143000"/>
          </a:xfrm>
          <a:prstGeom prst="rect">
            <a:avLst/>
          </a:prstGeom>
          <a:solidFill>
            <a:srgbClr val="23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5392" y="1618488"/>
            <a:ext cx="42062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Arial"/>
              </a:rPr>
              <a:t>Main Goal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84248"/>
            <a:ext cx="4160520" cy="5760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50" b="0">
                <a:solidFill>
                  <a:srgbClr val="334155"/>
                </a:solidFill>
                <a:latin typeface="Arial"/>
              </a:rPr>
              <a:t>Build an AI backend that understands semantic meaning, connects to the deployed database, and returns practical results to both applicants and companies.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880360"/>
            <a:ext cx="448056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2880360"/>
            <a:ext cx="73152" cy="1143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65392" y="2990088"/>
            <a:ext cx="42062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Arial"/>
              </a:rPr>
              <a:t>Key Challenge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65392" y="3355848"/>
            <a:ext cx="4160520" cy="5760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50" b="0">
                <a:solidFill>
                  <a:srgbClr val="334155"/>
                </a:solidFill>
                <a:latin typeface="Arial"/>
              </a:rPr>
              <a:t>Data is split between local vector artifacts and the live SQL database, so search must be hybrid and deployment-aware.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251960"/>
            <a:ext cx="448056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4251960"/>
            <a:ext cx="73152" cy="11430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4361688"/>
            <a:ext cx="42062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Arial"/>
              </a:rPr>
              <a:t>Expected Output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4727448"/>
            <a:ext cx="4160520" cy="5760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50" b="0">
                <a:solidFill>
                  <a:srgbClr val="334155"/>
                </a:solidFill>
                <a:latin typeface="Arial"/>
              </a:rPr>
              <a:t>Search results, recommendations, chat responses, company insights, and a CV-to-job MatchScore.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44200" y="6419088"/>
            <a:ext cx="91440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Segoe U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Segoe UI"/>
              </a:rPr>
              <a:t>2. Solution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50392"/>
            <a:ext cx="960120" cy="54864"/>
          </a:xfrm>
          <a:prstGeom prst="rect">
            <a:avLst/>
          </a:prstGeom>
          <a:solidFill>
            <a:srgbClr val="23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033272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الفكرة العامة للنظام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324612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17320"/>
            <a:ext cx="73152" cy="2057400"/>
          </a:xfrm>
          <a:prstGeom prst="rect">
            <a:avLst/>
          </a:prstGeom>
          <a:solidFill>
            <a:srgbClr val="23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1" y="1527048"/>
            <a:ext cx="2971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Arial"/>
              </a:rPr>
              <a:t>Applicant Side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" y="1892808"/>
            <a:ext cx="2926079" cy="1490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50" b="0">
                <a:solidFill>
                  <a:srgbClr val="334155"/>
                </a:solidFill>
                <a:latin typeface="Arial"/>
              </a:rPr>
              <a:t>CV search, semantic recommendations, job analysis, and chatbot support.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417320"/>
            <a:ext cx="324612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417320"/>
            <a:ext cx="73152" cy="20574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6552" y="1527048"/>
            <a:ext cx="2971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Arial"/>
              </a:rPr>
              <a:t>AI 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6552" y="1892808"/>
            <a:ext cx="2926079" cy="1490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50" b="0">
                <a:solidFill>
                  <a:srgbClr val="334155"/>
                </a:solidFill>
                <a:latin typeface="Arial"/>
              </a:rPr>
              <a:t>SentenceTransformer embeddings + FAISS vector search + SQL Server live job data.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1417320"/>
            <a:ext cx="324612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63840" y="1417320"/>
            <a:ext cx="73152" cy="2057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28431" y="1527048"/>
            <a:ext cx="2971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Arial"/>
              </a:rPr>
              <a:t>Company Side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28431" y="1892808"/>
            <a:ext cx="2926079" cy="1490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50" b="0">
                <a:solidFill>
                  <a:srgbClr val="334155"/>
                </a:solidFill>
                <a:latin typeface="Arial"/>
              </a:rPr>
              <a:t>Job post analysis, candidate discovery, hiring insights, and generated job descriptions.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977639"/>
            <a:ext cx="10424160" cy="12801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700" b="0">
                <a:solidFill>
                  <a:srgbClr val="0F172A"/>
                </a:solidFill>
                <a:latin typeface="Arial"/>
              </a:rPr>
              <a:t>The backend exposes FastAPI endpoints consumed by the frontend Next.js API routes.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700" b="0">
                <a:solidFill>
                  <a:srgbClr val="0F172A"/>
                </a:solidFill>
                <a:latin typeface="Arial"/>
              </a:rPr>
              <a:t>Large vector files are downloaded automatically from Hugging Face when Docker starts.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700" b="0">
                <a:solidFill>
                  <a:srgbClr val="0F172A"/>
                </a:solidFill>
                <a:latin typeface="Arial"/>
              </a:rPr>
              <a:t>Live SQL jobs can be embedded and synced into the local FAISS index using an admin endpoint.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44200" y="6419088"/>
            <a:ext cx="91440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Segoe U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Segoe UI"/>
              </a:rPr>
              <a:t>3. 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50392"/>
            <a:ext cx="960120" cy="54864"/>
          </a:xfrm>
          <a:prstGeom prst="rect">
            <a:avLst/>
          </a:prstGeom>
          <a:solidFill>
            <a:srgbClr val="23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033272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مكونات النظام وربطها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20574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17320"/>
            <a:ext cx="73152" cy="1508760"/>
          </a:xfrm>
          <a:prstGeom prst="rect">
            <a:avLst/>
          </a:prstGeom>
          <a:solidFill>
            <a:srgbClr val="23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1" y="1527048"/>
            <a:ext cx="178308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Arial"/>
              </a:rPr>
              <a:t>Frontend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" y="1892808"/>
            <a:ext cx="1737360" cy="941831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50" b="0">
                <a:solidFill>
                  <a:srgbClr val="334155"/>
                </a:solidFill>
                <a:latin typeface="Arial"/>
              </a:rPr>
              <a:t>Next.js routes call AI backend APIs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63240" y="1417320"/>
            <a:ext cx="20574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63240" y="1417320"/>
            <a:ext cx="73152" cy="150876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27832" y="1527048"/>
            <a:ext cx="178308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Arial"/>
              </a:rPr>
              <a:t>FastAPI Backend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27832" y="1892808"/>
            <a:ext cx="1737360" cy="941831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50" b="0">
                <a:solidFill>
                  <a:srgbClr val="334155"/>
                </a:solidFill>
                <a:latin typeface="Arial"/>
              </a:rPr>
              <a:t>main.py exposes search, chat, company, admin endpoints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0" y="1417320"/>
            <a:ext cx="20574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417320"/>
            <a:ext cx="73152" cy="1508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50992" y="1527048"/>
            <a:ext cx="178308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Arial"/>
              </a:rPr>
              <a:t>AI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50992" y="1892808"/>
            <a:ext cx="1737360" cy="941831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50" b="0">
                <a:solidFill>
                  <a:srgbClr val="334155"/>
                </a:solidFill>
                <a:latin typeface="Arial"/>
              </a:rPr>
              <a:t>SentenceTransformer + Gemini API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417320"/>
            <a:ext cx="20574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417320"/>
            <a:ext cx="73152" cy="150876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1527048"/>
            <a:ext cx="178308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Arial"/>
              </a:rPr>
              <a:t>Data 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74152" y="1892808"/>
            <a:ext cx="1737360" cy="941831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50" b="0">
                <a:solidFill>
                  <a:srgbClr val="334155"/>
                </a:solidFill>
                <a:latin typeface="Arial"/>
              </a:rPr>
              <a:t>SQL Server + jobs.db + jobs.index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2697480" y="1901952"/>
            <a:ext cx="320040" cy="256032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ight Arrow 22"/>
          <p:cNvSpPr/>
          <p:nvPr/>
        </p:nvSpPr>
        <p:spPr>
          <a:xfrm>
            <a:off x="5120640" y="1901952"/>
            <a:ext cx="320040" cy="256032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7543800" y="1901952"/>
            <a:ext cx="320040" cy="256032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731520" y="3703320"/>
          <a:ext cx="1051560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138160"/>
              </a:tblGrid>
              <a:tr h="37719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SQL Server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Live app data: jobs, companies, applicants, resumes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jobs.db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Metadata for vector search results and synced live jobs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jobs.index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FAISS index storing dense vectors for semantic retrieval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10744200" y="6419088"/>
            <a:ext cx="91440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Segoe U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Segoe UI"/>
              </a:rPr>
              <a:t>4. Embedding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50392"/>
            <a:ext cx="960120" cy="54864"/>
          </a:xfrm>
          <a:prstGeom prst="rect">
            <a:avLst/>
          </a:prstGeom>
          <a:solidFill>
            <a:srgbClr val="23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033272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كيف تتحول الوظيفة إلى vector قابل للبحث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1508760"/>
            <a:ext cx="502920" cy="502920"/>
          </a:xfrm>
          <a:prstGeom prst="ellipse">
            <a:avLst/>
          </a:prstGeom>
          <a:solidFill>
            <a:srgbClr val="23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600200"/>
            <a:ext cx="27432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182880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48840"/>
            <a:ext cx="73152" cy="1554480"/>
          </a:xfrm>
          <a:prstGeom prst="rect">
            <a:avLst/>
          </a:prstGeom>
          <a:solidFill>
            <a:srgbClr val="23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258568"/>
            <a:ext cx="155448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Arial"/>
              </a:rPr>
              <a:t>Read Job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624328"/>
            <a:ext cx="1508760" cy="9875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50" b="0">
                <a:solidFill>
                  <a:srgbClr val="334155"/>
                </a:solidFill>
                <a:latin typeface="Arial"/>
              </a:rPr>
              <a:t>From CSV/local DB or deployed SQL Server</a:t>
            </a:r>
          </a:p>
        </p:txBody>
      </p:sp>
      <p:sp>
        <p:nvSpPr>
          <p:cNvPr id="12" name="Oval 11"/>
          <p:cNvSpPr/>
          <p:nvPr/>
        </p:nvSpPr>
        <p:spPr>
          <a:xfrm>
            <a:off x="2926080" y="1508760"/>
            <a:ext cx="502920" cy="502920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35808" y="1600200"/>
            <a:ext cx="27432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88920" y="2148840"/>
            <a:ext cx="182880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88920" y="2148840"/>
            <a:ext cx="73152" cy="15544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53512" y="2258568"/>
            <a:ext cx="155448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Arial"/>
              </a:rPr>
              <a:t>Clean 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53512" y="2624328"/>
            <a:ext cx="1508760" cy="9875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50" b="0">
                <a:solidFill>
                  <a:srgbClr val="334155"/>
                </a:solidFill>
                <a:latin typeface="Arial"/>
              </a:rPr>
              <a:t>Remove HTML, normalize whitespace, combine title/company/description</a:t>
            </a:r>
          </a:p>
        </p:txBody>
      </p:sp>
      <p:sp>
        <p:nvSpPr>
          <p:cNvPr id="18" name="Oval 17"/>
          <p:cNvSpPr/>
          <p:nvPr/>
        </p:nvSpPr>
        <p:spPr>
          <a:xfrm>
            <a:off x="5166360" y="1508760"/>
            <a:ext cx="502920" cy="5029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76088" y="1600200"/>
            <a:ext cx="27432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0" y="2148840"/>
            <a:ext cx="182880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0" y="2148840"/>
            <a:ext cx="73152" cy="1554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792" y="2258568"/>
            <a:ext cx="155448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Arial"/>
              </a:rPr>
              <a:t>Embed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792" y="2624328"/>
            <a:ext cx="1508760" cy="9875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50" b="0">
                <a:solidFill>
                  <a:srgbClr val="334155"/>
                </a:solidFill>
                <a:latin typeface="Arial"/>
              </a:rPr>
              <a:t>SentenceTransformer converts text to numerical vector</a:t>
            </a:r>
          </a:p>
        </p:txBody>
      </p:sp>
      <p:sp>
        <p:nvSpPr>
          <p:cNvPr id="24" name="Oval 23"/>
          <p:cNvSpPr/>
          <p:nvPr/>
        </p:nvSpPr>
        <p:spPr>
          <a:xfrm>
            <a:off x="7406640" y="1508760"/>
            <a:ext cx="502920" cy="50292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16368" y="1600200"/>
            <a:ext cx="27432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69480" y="2148840"/>
            <a:ext cx="182880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269480" y="2148840"/>
            <a:ext cx="73152" cy="155448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34072" y="2258568"/>
            <a:ext cx="155448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Arial"/>
              </a:rPr>
              <a:t>Store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34072" y="2624328"/>
            <a:ext cx="1508760" cy="9875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50" b="0">
                <a:solidFill>
                  <a:srgbClr val="334155"/>
                </a:solidFill>
                <a:latin typeface="Arial"/>
              </a:rPr>
              <a:t>Vector goes to FAISS index, metadata goes to jobs.db</a:t>
            </a:r>
          </a:p>
        </p:txBody>
      </p:sp>
      <p:sp>
        <p:nvSpPr>
          <p:cNvPr id="30" name="Oval 29"/>
          <p:cNvSpPr/>
          <p:nvPr/>
        </p:nvSpPr>
        <p:spPr>
          <a:xfrm>
            <a:off x="9646920" y="1508760"/>
            <a:ext cx="502920" cy="50292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56648" y="1600200"/>
            <a:ext cx="27432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09760" y="2148840"/>
            <a:ext cx="182880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509760" y="2148840"/>
            <a:ext cx="73152" cy="15544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74352" y="2258568"/>
            <a:ext cx="155448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Arial"/>
              </a:rPr>
              <a:t>Search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4352" y="2624328"/>
            <a:ext cx="1508760" cy="9875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50" b="0">
                <a:solidFill>
                  <a:srgbClr val="334155"/>
                </a:solidFill>
                <a:latin typeface="Arial"/>
              </a:rPr>
              <a:t>Query vector retrieves nearest jobs by semantic similarity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68680" y="4343400"/>
            <a:ext cx="10424160" cy="1143000"/>
          </a:xfrm>
          <a:prstGeom prst="roundRect">
            <a:avLst/>
          </a:prstGeom>
          <a:solidFill>
            <a:srgbClr val="111827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33271" y="4453128"/>
            <a:ext cx="101498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100" b="1">
                <a:solidFill>
                  <a:srgbClr val="14B8A6"/>
                </a:solidFill>
                <a:latin typeface="Segoe UI"/>
              </a:rPr>
              <a:t>Simplified embedding sync logic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3271" y="4754880"/>
            <a:ext cx="10104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E2E8F0"/>
                </a:solidFill>
                <a:latin typeface="Consolas"/>
              </a:rPr>
              <a:t>text = build_search_job_text(sql_job)
vector = model.encode([text], normalize_embeddings=True)
index.add(vector)
save_metadata(job_id, title, company, source='sql_live')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44200" y="6419088"/>
            <a:ext cx="91440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Segoe U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Segoe UI"/>
              </a:rPr>
              <a:t>5. Applicant AI Endpoints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50392"/>
            <a:ext cx="960120" cy="54864"/>
          </a:xfrm>
          <a:prstGeom prst="rect">
            <a:avLst/>
          </a:prstGeom>
          <a:solidFill>
            <a:srgbClr val="23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033272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APIs الخاصة بالباحث عن وظيفة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234440"/>
          <a:ext cx="10789920" cy="379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920"/>
                <a:gridCol w="4663440"/>
                <a:gridCol w="3337560"/>
              </a:tblGrid>
              <a:tr h="6324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Endpoint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Purpose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Returns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</a:tr>
              <a:tr h="6324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POST /search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Semantic/hybrid search using CV text or query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Job recommendations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</a:tr>
              <a:tr h="6324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POST /recommend-matches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Compare CV against available jobs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Ranked matches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6324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POST /analyze-job-id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Analyze a selected job against applicant CV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MatchScore + explanation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</a:tr>
              <a:tr h="6324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POST /chat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General applicant AI chat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Natural language answer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6324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POST /clear-cache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Clear cached AI/resume data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Fresh testing/runtime state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5349240"/>
            <a:ext cx="10424160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600" b="0">
                <a:solidFill>
                  <a:srgbClr val="0F172A"/>
                </a:solidFill>
                <a:latin typeface="Arial"/>
              </a:rPr>
              <a:t>All endpoints were tested locally against connected SQL Server and real CV/job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19088"/>
            <a:ext cx="91440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Segoe U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Segoe UI"/>
              </a:rPr>
              <a:t>6. Company AI Endpoints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50392"/>
            <a:ext cx="960120" cy="54864"/>
          </a:xfrm>
          <a:prstGeom prst="rect">
            <a:avLst/>
          </a:prstGeom>
          <a:solidFill>
            <a:srgbClr val="23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033272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APIs الخاصة بالشركة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188720"/>
          <a:ext cx="10789920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4680"/>
                <a:gridCol w="4343400"/>
                <a:gridCol w="3291840"/>
              </a:tblGrid>
              <a:tr h="56823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Endpoint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Purpose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Returns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POST /chat/company/message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Company chatbot conversation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Reply + context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POST /chat/company/analyze-company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Analyze company profile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Strengths and recommendations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POST /chat/company/analyze-job-post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Review a job post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Quality and improvement notes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POST /chat/company/generate-job-post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Generate a structured job post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Title, requirements, description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POST /chat/company/hiring-insights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Hiring analytics and advice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Insights for company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</a:tr>
              <a:tr h="568235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POST /chat/company/find-candidates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Find candidates for a job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Candidate list + match score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744200" y="6419088"/>
            <a:ext cx="91440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Segoe U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Segoe UI"/>
              </a:rPr>
              <a:t>7. CV MatchScore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50392"/>
            <a:ext cx="960120" cy="54864"/>
          </a:xfrm>
          <a:prstGeom prst="rect">
            <a:avLst/>
          </a:prstGeom>
          <a:solidFill>
            <a:srgbClr val="23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033272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تقييم نسبة توافق الـ CV مع الوظيفة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5212080" cy="25603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700" b="0">
                <a:solidFill>
                  <a:srgbClr val="0F172A"/>
                </a:solidFill>
                <a:latin typeface="Arial"/>
              </a:rPr>
              <a:t>The endpoint receives a job id and applicant/resume context.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700" b="0">
                <a:solidFill>
                  <a:srgbClr val="0F172A"/>
                </a:solidFill>
                <a:latin typeface="Arial"/>
              </a:rPr>
              <a:t>It builds clean text for the job requirements and clean text for the CV.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700" b="0">
                <a:solidFill>
                  <a:srgbClr val="0F172A"/>
                </a:solidFill>
                <a:latin typeface="Arial"/>
              </a:rPr>
              <a:t>The AI compares skills, experience, education, and responsibilities.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700" b="0">
                <a:solidFill>
                  <a:srgbClr val="0F172A"/>
                </a:solidFill>
                <a:latin typeface="Arial"/>
              </a:rPr>
              <a:t>The response includes MatchScore as an integer percentage plus explanation.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34440"/>
            <a:ext cx="5166360" cy="2423160"/>
          </a:xfrm>
          <a:prstGeom prst="roundRect">
            <a:avLst/>
          </a:prstGeom>
          <a:solidFill>
            <a:srgbClr val="111827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344168"/>
            <a:ext cx="48920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100" b="1">
                <a:solidFill>
                  <a:srgbClr val="14B8A6"/>
                </a:solidFill>
                <a:latin typeface="Segoe UI"/>
              </a:rPr>
              <a:t>Backend/frontend contract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82512" y="1645920"/>
            <a:ext cx="4846320" cy="1920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E2E8F0"/>
                </a:solidFill>
                <a:latin typeface="Consolas"/>
              </a:rPr>
              <a:t>public int MatchScore { get; set; }
# API response example
{
  'match_score': 82,
  'strengths': [...],
  'gaps': [...],
  'recommendation': 'Strong fit'
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4297680"/>
            <a:ext cx="996696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4297680"/>
            <a:ext cx="73152" cy="100584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407408"/>
            <a:ext cx="96926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Arial"/>
              </a:rPr>
              <a:t>Why it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4773168"/>
            <a:ext cx="964692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50" b="0">
                <a:solidFill>
                  <a:srgbClr val="334155"/>
                </a:solidFill>
                <a:latin typeface="Arial"/>
              </a:rPr>
              <a:t>Instead of only returning similar jobs, the system explains how suitable the applicant is for a specific role. This makes the AI result useful for both the applicant and the hiring side.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419088"/>
            <a:ext cx="91440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Segoe U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Segoe UI"/>
              </a:rPr>
              <a:t>8. Live Job Embedding Sync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50392"/>
            <a:ext cx="960120" cy="54864"/>
          </a:xfrm>
          <a:prstGeom prst="rect">
            <a:avLst/>
          </a:prstGeom>
          <a:solidFill>
            <a:srgbClr val="23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033272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ربط الوظائف الجديدة بالـ embeddings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5166360" cy="27432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700" b="0">
                <a:solidFill>
                  <a:srgbClr val="0F172A"/>
                </a:solidFill>
                <a:latin typeface="Arial"/>
              </a:rPr>
              <a:t>When a new job exists in deployed SQL Server, it can be embedded into the local vector artifacts.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700" b="0">
                <a:solidFill>
                  <a:srgbClr val="0F172A"/>
                </a:solidFill>
                <a:latin typeface="Arial"/>
              </a:rPr>
              <a:t>The admin endpoint reads the job by GUID/string JobID.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700" b="0">
                <a:solidFill>
                  <a:srgbClr val="0F172A"/>
                </a:solidFill>
                <a:latin typeface="Arial"/>
              </a:rPr>
              <a:t>It cleans the text, generates an embedding, appends it to jobs.index, and stores metadata in jobs.db.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700" b="0">
                <a:solidFill>
                  <a:srgbClr val="0F172A"/>
                </a:solidFill>
                <a:latin typeface="Arial"/>
              </a:rPr>
              <a:t>This fixes the gap between live database jobs and local vector search.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234440"/>
            <a:ext cx="5257800" cy="2743200"/>
          </a:xfrm>
          <a:prstGeom prst="roundRect">
            <a:avLst/>
          </a:prstGeom>
          <a:solidFill>
            <a:srgbClr val="111827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36792" y="1344168"/>
            <a:ext cx="4983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100" b="1">
                <a:solidFill>
                  <a:srgbClr val="14B8A6"/>
                </a:solidFill>
                <a:latin typeface="Segoe UI"/>
              </a:rPr>
              <a:t>Admin sync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1645920"/>
            <a:ext cx="49377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E2E8F0"/>
                </a:solidFill>
                <a:latin typeface="Consolas"/>
              </a:rPr>
              <a:t>POST /admin/sync-job-embedding
{
  'job_id': 'DA16524B-3634-4429-A1F0-4B8527100B79'
}
Result:
{
  'status': 'synced',
  'faiss_id': 1615941
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91440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Segoe U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Segoe UI"/>
              </a:rPr>
              <a:t>9. Frontend Integration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50392"/>
            <a:ext cx="960120" cy="54864"/>
          </a:xfrm>
          <a:prstGeom prst="rect">
            <a:avLst/>
          </a:prstGeom>
          <a:solidFill>
            <a:srgbClr val="23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033272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أماكن ربط الـ frontend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234440"/>
          <a:ext cx="1078992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114800"/>
                <a:gridCol w="3566160"/>
              </a:tblGrid>
              <a:tr h="6675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Frontend Route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Backend Mapping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Used In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/api/ai/search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Calls backend /search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Applicant job search page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/api/ai/chat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Calls backend /chat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Applicant chatbot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/api/ai/company/chat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Calls company chat APIs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Company dashboard assistant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/api/ai/company/find-candidates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Calls backend find-candidates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Candidate discovery screen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892040"/>
            <a:ext cx="10241280" cy="7315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600" b="0">
                <a:solidFill>
                  <a:srgbClr val="0F172A"/>
                </a:solidFill>
                <a:latin typeface="Arial"/>
              </a:rPr>
              <a:t>The frontend guy can fork the repo, provide .env values, then run docker compose build and docker compose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19088"/>
            <a:ext cx="91440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Segoe UI"/>
              </a:rPr>
              <a:t>10. Docker Deployment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50392"/>
            <a:ext cx="960120" cy="54864"/>
          </a:xfrm>
          <a:prstGeom prst="rect">
            <a:avLst/>
          </a:prstGeom>
          <a:solidFill>
            <a:srgbClr val="23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033272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تشغيل المشروع كـ image جاهزة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88720"/>
            <a:ext cx="5349240" cy="31546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700" b="0">
                <a:solidFill>
                  <a:srgbClr val="0F172A"/>
                </a:solidFill>
                <a:latin typeface="Arial"/>
              </a:rPr>
              <a:t>The Docker image does not include the huge jobs.db and jobs.index files.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700" b="0">
                <a:solidFill>
                  <a:srgbClr val="0F172A"/>
                </a:solidFill>
                <a:latin typeface="Arial"/>
              </a:rPr>
              <a:t>On container startup, entrypoint.py downloads the artifacts from Hugging Face if missing.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700" b="0">
                <a:solidFill>
                  <a:srgbClr val="0F172A"/>
                </a:solidFill>
                <a:latin typeface="Arial"/>
              </a:rPr>
              <a:t>This keeps GitHub and Docker image size reasonable.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700" b="0">
                <a:solidFill>
                  <a:srgbClr val="0F172A"/>
                </a:solidFill>
                <a:latin typeface="Arial"/>
              </a:rPr>
              <a:t>The pushed image is available as omarfouda1234/jobify-ai-backend:latest.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280160"/>
            <a:ext cx="4892040" cy="2468880"/>
          </a:xfrm>
          <a:prstGeom prst="roundRect">
            <a:avLst/>
          </a:prstGeom>
          <a:solidFill>
            <a:srgbClr val="111827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1389888"/>
            <a:ext cx="46177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100" b="1">
                <a:solidFill>
                  <a:srgbClr val="14B8A6"/>
                </a:solidFill>
                <a:latin typeface="Segoe UI"/>
              </a:rPr>
              <a:t>Frontend / deployment commands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3952" y="1691639"/>
            <a:ext cx="45720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E2E8F0"/>
                </a:solidFill>
                <a:latin typeface="Consolas"/>
              </a:rPr>
              <a:t>docker compose build
docker compose up
# or pull image
docker pull omarfouda1234/jobify-ai-backend:latest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4800600"/>
            <a:ext cx="98755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4800600"/>
            <a:ext cx="73152" cy="8686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910328"/>
            <a:ext cx="96012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Arial"/>
              </a:rPr>
              <a:t>Deployment behavior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5276088"/>
            <a:ext cx="9555480" cy="301751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50" b="0">
                <a:solidFill>
                  <a:srgbClr val="334155"/>
                </a:solidFill>
                <a:latin typeface="Arial"/>
              </a:rPr>
              <a:t>If the artifacts already exist on the machine or mounted volume, Docker uses them. If not, it downloads them automatically.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419088"/>
            <a:ext cx="91440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Segoe UI"/>
              </a:rPr>
              <a:t>11. Security and Configuration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50392"/>
            <a:ext cx="960120" cy="54864"/>
          </a:xfrm>
          <a:prstGeom prst="rect">
            <a:avLst/>
          </a:prstGeom>
          <a:solidFill>
            <a:srgbClr val="23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033272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ملاحظات مهمة قبل التسليم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234440"/>
            <a:ext cx="10515600" cy="34747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800" b="0">
                <a:solidFill>
                  <a:srgbClr val="0F172A"/>
                </a:solidFill>
                <a:latin typeface="Arial"/>
              </a:rPr>
              <a:t>.env is ignored by Git and should not be committed because it contains database credentials and API keys.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800" b="0">
                <a:solidFill>
                  <a:srgbClr val="0F172A"/>
                </a:solidFill>
                <a:latin typeface="Arial"/>
              </a:rPr>
              <a:t>JWT_SECRET and ADMIN_API_KEY were generated locally and must be shared securely only with trusted team members.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800" b="0">
                <a:solidFill>
                  <a:srgbClr val="0F172A"/>
                </a:solidFill>
                <a:latin typeface="Arial"/>
              </a:rPr>
              <a:t>Admin endpoints should stay protected in production using ADMIN_API_KEY or authentication middleware.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800" b="0">
                <a:solidFill>
                  <a:srgbClr val="0F172A"/>
                </a:solidFill>
                <a:latin typeface="Arial"/>
              </a:rPr>
              <a:t>Docker image was verified not to contain .env, jobs.db, jobs.index, or the frontend folder.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19088"/>
            <a:ext cx="91440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Segoe UI"/>
              </a:rPr>
              <a:t>12. Latest Real Test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50392"/>
            <a:ext cx="960120" cy="54864"/>
          </a:xfrm>
          <a:prstGeom prst="rect">
            <a:avLst/>
          </a:prstGeom>
          <a:solidFill>
            <a:srgbClr val="23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033272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اختبارات فعلية تمت على المشروع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234440"/>
          <a:ext cx="1078992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/>
                <a:gridCol w="1828800"/>
                <a:gridCol w="5989320"/>
              </a:tblGrid>
              <a:tr h="53721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Test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Result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Evidence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/health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200 OK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Model, index, SQL, Gemini configured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/search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200 OK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Returned real job recommendations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/recommend-matches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200 OK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CV based matches returned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/analyze-job-id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200 OK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Match analysis works with real IDs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/chat + company chat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200 OK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Gemini key verified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/admin/sync-job-embedding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200 OK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GUID JobID sync fixed and tested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pytest tests -q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36 passed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Regression suite passed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744200" y="6419088"/>
            <a:ext cx="91440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Segoe UI"/>
              </a:rPr>
              <a:t>13. Suggested Demo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50392"/>
            <a:ext cx="960120" cy="54864"/>
          </a:xfrm>
          <a:prstGeom prst="rect">
            <a:avLst/>
          </a:prstGeom>
          <a:solidFill>
            <a:srgbClr val="23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033272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ترتيب شرح عملي للدكتور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607040" cy="42519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900" b="0">
                <a:solidFill>
                  <a:srgbClr val="0F172A"/>
                </a:solidFill>
                <a:latin typeface="Arial"/>
              </a:rPr>
              <a:t>Start with /health to prove the backend is ready and connected.</a:t>
            </a:r>
          </a:p>
          <a:p>
            <a:pPr>
              <a:spcAft>
                <a:spcPts val="800"/>
              </a:spcAft>
            </a:pPr>
            <a:r>
              <a:rPr sz="19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900" b="0">
                <a:solidFill>
                  <a:srgbClr val="0F172A"/>
                </a:solidFill>
                <a:latin typeface="Arial"/>
              </a:rPr>
              <a:t>Upload or paste CV text, then call /search to show semantic job recommendations.</a:t>
            </a:r>
          </a:p>
          <a:p>
            <a:pPr>
              <a:spcAft>
                <a:spcPts val="800"/>
              </a:spcAft>
            </a:pPr>
            <a:r>
              <a:rPr sz="19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900" b="0">
                <a:solidFill>
                  <a:srgbClr val="0F172A"/>
                </a:solidFill>
                <a:latin typeface="Arial"/>
              </a:rPr>
              <a:t>Open a real job and call /analyze-job-id to show MatchScore and explanation.</a:t>
            </a:r>
          </a:p>
          <a:p>
            <a:pPr>
              <a:spcAft>
                <a:spcPts val="800"/>
              </a:spcAft>
            </a:pPr>
            <a:r>
              <a:rPr sz="19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900" b="0">
                <a:solidFill>
                  <a:srgbClr val="0F172A"/>
                </a:solidFill>
                <a:latin typeface="Arial"/>
              </a:rPr>
              <a:t>Switch to company side: use find-candidates for a real job ID.</a:t>
            </a:r>
          </a:p>
          <a:p>
            <a:pPr>
              <a:spcAft>
                <a:spcPts val="800"/>
              </a:spcAft>
            </a:pPr>
            <a:r>
              <a:rPr sz="19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900" b="0">
                <a:solidFill>
                  <a:srgbClr val="0F172A"/>
                </a:solidFill>
                <a:latin typeface="Arial"/>
              </a:rPr>
              <a:t>Use /admin/sync-job-embedding to demonstrate how a new SQL job becomes searchable.</a:t>
            </a:r>
          </a:p>
          <a:p>
            <a:pPr>
              <a:spcAft>
                <a:spcPts val="800"/>
              </a:spcAft>
            </a:pPr>
            <a:r>
              <a:rPr sz="19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900" b="0">
                <a:solidFill>
                  <a:srgbClr val="0F172A"/>
                </a:solidFill>
                <a:latin typeface="Arial"/>
              </a:rPr>
              <a:t>Finish with Docker: explain auto-download of artifacts and the deployment image.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19088"/>
            <a:ext cx="91440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Segoe UI"/>
              </a:rPr>
              <a:t>14. Limitations and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50392"/>
            <a:ext cx="960120" cy="54864"/>
          </a:xfrm>
          <a:prstGeom prst="rect">
            <a:avLst/>
          </a:prstGeom>
          <a:solidFill>
            <a:srgbClr val="23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033272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ما يمكن تحسينه بعد التسليم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234440"/>
          <a:ext cx="1060704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840480"/>
                <a:gridCol w="4389120"/>
              </a:tblGrid>
              <a:tr h="78638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Current State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Next Improvement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Resume availability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Some candidate resumes may be missing or not accessible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Add stronger resume validation and fallback states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Artifact size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Vector files are several GB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Use hosted vector DB or compressed shards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Admin sync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Currently endpoint-triggered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Trigger sync automatically from backend job creation event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Observability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Basic health checks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Add structured logs and metrics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744200" y="6419088"/>
            <a:ext cx="91440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Segoe UI"/>
              </a:rPr>
              <a:t>15. 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50392"/>
            <a:ext cx="960120" cy="54864"/>
          </a:xfrm>
          <a:prstGeom prst="rect">
            <a:avLst/>
          </a:prstGeom>
          <a:solidFill>
            <a:srgbClr val="23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033272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الخلاصة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10515600" cy="3291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2363EB"/>
                </a:solidFill>
                <a:latin typeface="Segoe UI"/>
              </a:rPr>
              <a:t>•  </a:t>
            </a:r>
            <a:r>
              <a:rPr sz="2000" b="0">
                <a:solidFill>
                  <a:srgbClr val="0F172A"/>
                </a:solidFill>
                <a:latin typeface="Arial"/>
              </a:rPr>
              <a:t>Jobify AI Backend is deployment-ready with Docker, artifact auto-download, and protected configuration.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2363EB"/>
                </a:solidFill>
                <a:latin typeface="Segoe UI"/>
              </a:rPr>
              <a:t>•  </a:t>
            </a:r>
            <a:r>
              <a:rPr sz="2000" b="0">
                <a:solidFill>
                  <a:srgbClr val="0F172A"/>
                </a:solidFill>
                <a:latin typeface="Arial"/>
              </a:rPr>
              <a:t>The AI layer supports semantic search, CV matching, applicant chat, company assistant, and candidate discovery.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2363EB"/>
                </a:solidFill>
                <a:latin typeface="Segoe UI"/>
              </a:rPr>
              <a:t>•  </a:t>
            </a:r>
            <a:r>
              <a:rPr sz="2000" b="0">
                <a:solidFill>
                  <a:srgbClr val="0F172A"/>
                </a:solidFill>
                <a:latin typeface="Arial"/>
              </a:rPr>
              <a:t>The live SQL database can be connected to the vector search through the embedding sync flow.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2363EB"/>
                </a:solidFill>
                <a:latin typeface="Segoe UI"/>
              </a:rPr>
              <a:t>•  </a:t>
            </a:r>
            <a:r>
              <a:rPr sz="2000" b="0">
                <a:solidFill>
                  <a:srgbClr val="0F172A"/>
                </a:solidFill>
                <a:latin typeface="Arial"/>
              </a:rPr>
              <a:t>The system was tested using real IDs, real CV data, connected database, and frontend routes.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0" y="5074920"/>
            <a:ext cx="85496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5074920"/>
            <a:ext cx="73152" cy="777240"/>
          </a:xfrm>
          <a:prstGeom prst="rect">
            <a:avLst/>
          </a:prstGeom>
          <a:solidFill>
            <a:srgbClr val="23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93392" y="5184648"/>
            <a:ext cx="8275319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Arial"/>
              </a:rPr>
              <a:t>Final Message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93392" y="5550408"/>
            <a:ext cx="8229600" cy="210311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50" b="0">
                <a:solidFill>
                  <a:srgbClr val="334155"/>
                </a:solidFill>
                <a:latin typeface="Arial"/>
              </a:rPr>
              <a:t>The project is not just a model demo; it is an integrated AI backend ready to support a real recruitment platform.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44200" y="6419088"/>
            <a:ext cx="91440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4213D"/>
                </a:solidFill>
                <a:latin typeface="Arial"/>
              </a:rPr>
              <a:t>16. Stored CV Embeddings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50392"/>
            <a:ext cx="960120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0332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334155"/>
                </a:solidFill>
                <a:latin typeface="Arial"/>
              </a:rPr>
              <a:t>CV upload to fast recommendations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5303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2363EB"/>
                </a:solidFill>
              </a:rPr>
              <a:t>?  </a:t>
            </a:r>
            <a:r>
              <a:rPr sz="1700">
                <a:solidFill>
                  <a:srgbClr val="334155"/>
                </a:solidFill>
                <a:latin typeface="Arial"/>
              </a:rPr>
              <a:t>After CV upload, the main backend calls POST /admin/sync-resume-embedding.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363EB"/>
                </a:solidFill>
              </a:rPr>
              <a:t>?  </a:t>
            </a:r>
            <a:r>
              <a:rPr sz="1700">
                <a:solidFill>
                  <a:srgbClr val="334155"/>
                </a:solidFill>
                <a:latin typeface="Arial"/>
              </a:rPr>
              <a:t>The AI backend reads the active resume from SQL Server and stores its vector in dbo.ResumeEmbeddings.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363EB"/>
                </a:solidFill>
              </a:rPr>
              <a:t>?  </a:t>
            </a:r>
            <a:r>
              <a:rPr sz="1700">
                <a:solidFill>
                  <a:srgbClr val="334155"/>
                </a:solidFill>
                <a:latin typeface="Arial"/>
              </a:rPr>
              <a:t>Recommended for You and chatbot recommendations use the stored vector first.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363EB"/>
                </a:solidFill>
              </a:rPr>
              <a:t>?  </a:t>
            </a:r>
            <a:r>
              <a:rPr sz="1700">
                <a:solidFill>
                  <a:srgbClr val="334155"/>
                </a:solidFill>
                <a:latin typeface="Arial"/>
              </a:rPr>
              <a:t>If no vector exists, the AI backend creates it automatically as a fallback.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48006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73152" cy="1234440"/>
          </a:xfrm>
          <a:prstGeom prst="rect">
            <a:avLst/>
          </a:prstGeom>
          <a:solidFill>
            <a:srgbClr val="23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8231" y="1527048"/>
            <a:ext cx="4526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4213D"/>
                </a:solidFill>
                <a:latin typeface="Arial"/>
              </a:rPr>
              <a:t>SQL Table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8231" y="192024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34155"/>
                </a:solidFill>
                <a:latin typeface="Arial"/>
              </a:rPr>
              <a:t>dbo.ResumeEmbeddings stores UserId, ApplicantID, ResumeID, ResumePath, ModelName, Dimension, TextHash, Embedding, CreatedAt, UpdatedAt.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880360"/>
            <a:ext cx="48006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880360"/>
            <a:ext cx="73152" cy="1234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1" y="2990088"/>
            <a:ext cx="4526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4213D"/>
                </a:solidFill>
                <a:latin typeface="Arial"/>
              </a:rPr>
              <a:t>Runtime Benefit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1" y="338328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34155"/>
                </a:solidFill>
                <a:latin typeface="Arial"/>
              </a:rPr>
              <a:t>The CV is not parsed and embedded on every recommendation request, so repeated recommendations are faster and more deployment-ready.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34340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4343400"/>
            <a:ext cx="73152" cy="100584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1" y="4453128"/>
            <a:ext cx="4526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4213D"/>
                </a:solidFill>
                <a:latin typeface="Arial"/>
              </a:rPr>
              <a:t>Real Test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1" y="484632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34155"/>
                </a:solidFill>
                <a:latin typeface="Arial"/>
              </a:rPr>
              <a:t>POST /admin/sync-resume-embedding returned 200 and stored a 384-dimensional vector for the real applicant resume.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44200" y="64190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64748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Latest Chatbot Behavior Update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43000"/>
            <a:ext cx="1051560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Greetings such as hi/hello return a short greeting without injecting CV context.</a:t>
            </a:r>
          </a:p>
          <a:p>
            <a:pPr>
              <a:defRPr sz="2000"/>
            </a:pPr>
            <a:r>
              <a:t>Recommendation prompts such as Find jobs that match my skills use the stored CV embedding and hybrid search.</a:t>
            </a:r>
          </a:p>
          <a:p>
            <a:pPr>
              <a:defRPr sz="2000"/>
            </a:pPr>
            <a:r>
              <a:t>Chat responses can include recommended_jobs; the frontend renders them as clickable job cards.</a:t>
            </a:r>
          </a:p>
          <a:p>
            <a:pPr>
              <a:defRPr sz="2000"/>
            </a:pPr>
            <a:r>
              <a:t>Bot text is rendered with lightweight formatting so bullets and bold labels are clean.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486400"/>
            <a:ext cx="10515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/>
            </a:pPr>
            <a:r>
              <a:t>Demo flow: say hi -&gt; greeting only | ask for matching jobs -&gt; recommendation cards.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400">
                <a:solidFill>
                  <a:srgbClr val="132543"/>
                </a:solidFill>
              </a:defRPr>
            </a:pPr>
            <a:r>
              <a:t>Featured Jobs Priority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87552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05B6E"/>
                </a:solidFill>
              </a:defRPr>
            </a:pPr>
            <a:r>
              <a:t>Featured jobs from the deployed database are promoted before normal Kaggle jobs.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352044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45920"/>
            <a:ext cx="73152" cy="347472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874520"/>
            <a:ext cx="310896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132543"/>
                </a:solidFill>
              </a:defRPr>
            </a:pPr>
            <a:r>
              <a:t>1. Source</a:t>
            </a:r>
          </a:p>
          <a:p>
            <a:pPr>
              <a:spcBef>
                <a:spcPts val="1000"/>
              </a:spcBef>
              <a:defRPr sz="1300">
                <a:solidFill>
                  <a:srgbClr val="374151"/>
                </a:solidFill>
              </a:defRPr>
            </a:pPr>
            <a:r>
              <a:t>JobPostings.IsFeatured is stored in SQL Server.</a:t>
            </a:r>
          </a:p>
          <a:p>
            <a:pPr>
              <a:spcBef>
                <a:spcPts val="1000"/>
              </a:spcBef>
              <a:defRPr sz="1300">
                <a:solidFill>
                  <a:srgbClr val="374151"/>
                </a:solidFill>
              </a:defRPr>
            </a:pPr>
            <a:r>
              <a:t>Kaggle jobs have no flag, so they remain false.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26280" y="1645920"/>
            <a:ext cx="352044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26280" y="1645920"/>
            <a:ext cx="73152" cy="347472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82312" y="1874520"/>
            <a:ext cx="310896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132543"/>
                </a:solidFill>
              </a:defRPr>
            </a:pPr>
            <a:r>
              <a:t>2. Sync</a:t>
            </a:r>
          </a:p>
          <a:p>
            <a:pPr>
              <a:spcBef>
                <a:spcPts val="1000"/>
              </a:spcBef>
              <a:defRPr sz="1300">
                <a:solidFill>
                  <a:srgbClr val="374151"/>
                </a:solidFill>
              </a:defRPr>
            </a:pPr>
            <a:r>
              <a:t>POST /admin/sync-job-embedding reads IsFeatured.</a:t>
            </a:r>
          </a:p>
          <a:p>
            <a:pPr>
              <a:spcBef>
                <a:spcPts val="1000"/>
              </a:spcBef>
              <a:defRPr sz="1300">
                <a:solidFill>
                  <a:srgbClr val="374151"/>
                </a:solidFill>
              </a:defRPr>
            </a:pPr>
            <a:r>
              <a:t>The local jobs.db stores it as is_featured.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66760" y="1645920"/>
            <a:ext cx="352044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66760" y="1645920"/>
            <a:ext cx="73152" cy="3474720"/>
          </a:xfrm>
          <a:prstGeom prst="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22792" y="1874520"/>
            <a:ext cx="310896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132543"/>
                </a:solidFill>
              </a:defRPr>
            </a:pPr>
            <a:r>
              <a:t>3. Results</a:t>
            </a:r>
          </a:p>
          <a:p>
            <a:pPr>
              <a:spcBef>
                <a:spcPts val="1000"/>
              </a:spcBef>
              <a:defRPr sz="1300">
                <a:solidFill>
                  <a:srgbClr val="374151"/>
                </a:solidFill>
              </a:defRPr>
            </a:pPr>
            <a:r>
              <a:t>Search and recommendations sort featured first.</a:t>
            </a:r>
          </a:p>
          <a:p>
            <a:pPr>
              <a:spcBef>
                <a:spcPts val="1000"/>
              </a:spcBef>
              <a:defRPr sz="1300">
                <a:solidFill>
                  <a:srgbClr val="374151"/>
                </a:solidFill>
              </a:defRPr>
            </a:pPr>
            <a:r>
              <a:t>Responses expose isFeatured for UI badges.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5321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4B5563"/>
                </a:solidFill>
              </a:defRPr>
            </a:pPr>
            <a:r>
              <a:t>Backend responsibility: ranking is handled before data reaches the frontend. Frontend only renders the returned order.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